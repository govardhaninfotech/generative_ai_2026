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74" r:id="rId9"/>
    <p:sldId id="262" r:id="rId10"/>
    <p:sldId id="275" r:id="rId11"/>
    <p:sldId id="263" r:id="rId12"/>
    <p:sldId id="264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65" r:id="rId23"/>
    <p:sldId id="285" r:id="rId24"/>
    <p:sldId id="286" r:id="rId25"/>
    <p:sldId id="266" r:id="rId26"/>
    <p:sldId id="267" r:id="rId27"/>
    <p:sldId id="268" r:id="rId28"/>
    <p:sldId id="269" r:id="rId29"/>
    <p:sldId id="270" r:id="rId30"/>
    <p:sldId id="271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69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53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19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31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8B1942-F075-4CA0-B5A3-31F6955A7B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7935" t="36084" r="24674" b="37587"/>
          <a:stretch/>
        </p:blipFill>
        <p:spPr>
          <a:xfrm>
            <a:off x="7834779" y="82612"/>
            <a:ext cx="1172818" cy="36650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2311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Document Loaders &amp; Text Splitting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563EB"/>
                </a:solidFill>
              </a:rPr>
              <a:t>RAG (Retrieval-Augmented Generation)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F2937"/>
                </a:solidFill>
              </a:rPr>
              <a:t>A technique that combines information retrieval with language generation, where a model retrieves relevant documents from a knowledge base and then uses them as context to generate accurate and grounded responses.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Benefits of using RAG: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0719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✓ Use of up-to-date information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1741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✓ Better privacy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✓ No limit of document size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563EB"/>
                </a:solidFill>
              </a:rPr>
              <a:t>RAG (Retrieval-Augmented Generation)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266BA1-B1FF-4302-8EC7-CF181240D57B}"/>
              </a:ext>
            </a:extLst>
          </p:cNvPr>
          <p:cNvSpPr/>
          <p:nvPr/>
        </p:nvSpPr>
        <p:spPr>
          <a:xfrm>
            <a:off x="3888121" y="1444405"/>
            <a:ext cx="1613647" cy="47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RAG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728AC8-A5F8-4940-A347-73B9614D3E2A}"/>
              </a:ext>
            </a:extLst>
          </p:cNvPr>
          <p:cNvSpPr/>
          <p:nvPr/>
        </p:nvSpPr>
        <p:spPr>
          <a:xfrm>
            <a:off x="375240" y="2887723"/>
            <a:ext cx="1613647" cy="47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Document</a:t>
            </a:r>
            <a:br>
              <a:rPr lang="en-IN" dirty="0"/>
            </a:br>
            <a:r>
              <a:rPr lang="en-IN" dirty="0"/>
              <a:t>Loaders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F7975D-0FBD-4018-BA40-65373AB3931D}"/>
              </a:ext>
            </a:extLst>
          </p:cNvPr>
          <p:cNvSpPr/>
          <p:nvPr/>
        </p:nvSpPr>
        <p:spPr>
          <a:xfrm>
            <a:off x="2586961" y="2887723"/>
            <a:ext cx="1613647" cy="47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Text</a:t>
            </a:r>
          </a:p>
          <a:p>
            <a:pPr algn="ctr"/>
            <a:r>
              <a:rPr lang="en-IN" dirty="0"/>
              <a:t>Splitter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C0B7DE-0DC0-4321-B777-1A08F434BEEF}"/>
              </a:ext>
            </a:extLst>
          </p:cNvPr>
          <p:cNvSpPr/>
          <p:nvPr/>
        </p:nvSpPr>
        <p:spPr>
          <a:xfrm>
            <a:off x="4938276" y="2887723"/>
            <a:ext cx="1613647" cy="47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Vector</a:t>
            </a:r>
          </a:p>
          <a:p>
            <a:pPr algn="ctr"/>
            <a:r>
              <a:rPr lang="en-IN" dirty="0"/>
              <a:t>Databases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337499-E0B6-4254-89E7-FC0C08320292}"/>
              </a:ext>
            </a:extLst>
          </p:cNvPr>
          <p:cNvSpPr/>
          <p:nvPr/>
        </p:nvSpPr>
        <p:spPr>
          <a:xfrm>
            <a:off x="6966860" y="2887722"/>
            <a:ext cx="1613647" cy="47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Rertrievers</a:t>
            </a:r>
            <a:endParaRPr lang="en-IN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7FC5BCC-A40E-4274-84B8-CE34C465F87F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455244" y="648021"/>
            <a:ext cx="966523" cy="351288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C71F0B9-5393-4D1A-A9DA-CE57D6257E10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rot="5400000">
            <a:off x="3561104" y="1753881"/>
            <a:ext cx="966523" cy="130116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42CBA1F-A331-4940-A769-CF251C79B8EC}"/>
              </a:ext>
            </a:extLst>
          </p:cNvPr>
          <p:cNvCxnSpPr>
            <a:stCxn id="9" idx="2"/>
            <a:endCxn id="12" idx="0"/>
          </p:cNvCxnSpPr>
          <p:nvPr/>
        </p:nvCxnSpPr>
        <p:spPr>
          <a:xfrm rot="16200000" flipH="1">
            <a:off x="4736761" y="1879383"/>
            <a:ext cx="966523" cy="1050155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D77832F-F625-43CB-B6F9-5A35803698CB}"/>
              </a:ext>
            </a:extLst>
          </p:cNvPr>
          <p:cNvCxnSpPr>
            <a:stCxn id="9" idx="2"/>
            <a:endCxn id="13" idx="0"/>
          </p:cNvCxnSpPr>
          <p:nvPr/>
        </p:nvCxnSpPr>
        <p:spPr>
          <a:xfrm rot="16200000" flipH="1">
            <a:off x="5751053" y="865091"/>
            <a:ext cx="966522" cy="3078739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136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Document Loaders in LangChain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209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Document loaders are components in LangChain used to load data from various sources into a standardized format (usually as Document objects), which can then be used for chunking, embedding, retrieval, and generation.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Document Loader Types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TextLoader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11887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Reads plain text (.txt) files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PyPDFLoader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1737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Loads content from PDF files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WebBaseLoader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2286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Extracts text from web pages (URLs)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CSVLoader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834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Loads CSV files into Document objects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DirectoryLoader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3383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Loads multiple documents from a directory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TextLoader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Simple and commonly used document loader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Reads plain text (.txt) files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Converts files into LangChain Document objects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Use Case: Chat logs, scraped text, transcripts, code snippets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Limitation: Works only with .txt files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PyPDFLoader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Used to load content from PDF files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Converts each page into a Document object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Uses the PyPDF library under the hood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Limitation: Not great with scanned PDFs or complex layouts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Best for: Standard text-based PDF documents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PyPDFLoader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48ECCA6-A3E3-416C-9374-861A2607D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964561"/>
              </p:ext>
            </p:extLst>
          </p:nvPr>
        </p:nvGraphicFramePr>
        <p:xfrm>
          <a:off x="640334" y="1245988"/>
          <a:ext cx="734337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688">
                  <a:extLst>
                    <a:ext uri="{9D8B030D-6E8A-4147-A177-3AD203B41FA5}">
                      <a16:colId xmlns:a16="http://schemas.microsoft.com/office/drawing/2014/main" val="4222469823"/>
                    </a:ext>
                  </a:extLst>
                </a:gridCol>
                <a:gridCol w="3671688">
                  <a:extLst>
                    <a:ext uri="{9D8B030D-6E8A-4147-A177-3AD203B41FA5}">
                      <a16:colId xmlns:a16="http://schemas.microsoft.com/office/drawing/2014/main" val="209269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Recommended Loader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92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Simple, clean PDFs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PyPDFLoader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712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PDFs with tables /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PDFPlumberLoader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449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Scanned / Image PDFs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UnstructuredPDFLoader</a:t>
                      </a:r>
                      <a:r>
                        <a:rPr lang="en-IN" sz="1200" dirty="0"/>
                        <a:t> or </a:t>
                      </a:r>
                      <a:r>
                        <a:rPr lang="en-IN" sz="1200" dirty="0" err="1"/>
                        <a:t>AmazonTextractPDFLoader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513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Need layout and image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PyMuPDFLoader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15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Want best structure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UnstructuredPDFLoader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1869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8B554DC-1A92-49E4-AE86-C4D0EE86EE13}"/>
              </a:ext>
            </a:extLst>
          </p:cNvPr>
          <p:cNvSpPr txBox="1"/>
          <p:nvPr/>
        </p:nvSpPr>
        <p:spPr>
          <a:xfrm flipH="1">
            <a:off x="906330" y="3911173"/>
            <a:ext cx="717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https://docs.langchain.com/oss/python/integrations/document_loaders</a:t>
            </a:r>
          </a:p>
        </p:txBody>
      </p:sp>
    </p:spTree>
    <p:extLst>
      <p:ext uri="{BB962C8B-B14F-4D97-AF65-F5344CB8AC3E}">
        <p14:creationId xmlns:p14="http://schemas.microsoft.com/office/powerpoint/2010/main" val="4275873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DirectoryLoader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Lets you load multiple documents from a directory (folder)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Processes all files in a specified folder path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Automatically converts each file into Document objects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Use Case: Batch loading documents from a data directory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Supports: Multiple file types when combined with appropriate loaders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DirectoryLoader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985C4A3-4C16-441E-90E8-3E193A5CF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473461"/>
              </p:ext>
            </p:extLst>
          </p:nvPr>
        </p:nvGraphicFramePr>
        <p:xfrm>
          <a:off x="1047590" y="146685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15189913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471290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Glob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What it 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426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**/*.txt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All .txt files in all the subfolders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90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*.pdf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All pdf files in the root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420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data/*.csv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All .csv files in the data/ folder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66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**/*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All files (any type, all the folders)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2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**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Recursive search through subfolders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169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466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WebBaseLoader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Loads and extracts text content from web pages (URLs)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Uses </a:t>
            </a:r>
            <a:r>
              <a:rPr lang="en-US" sz="1500" b="1" dirty="0">
                <a:solidFill>
                  <a:srgbClr val="1F2937"/>
                </a:solidFill>
              </a:rPr>
              <a:t>BeautifulSoup</a:t>
            </a:r>
            <a:r>
              <a:rPr lang="en-US" sz="1500" dirty="0">
                <a:solidFill>
                  <a:srgbClr val="1F2937"/>
                </a:solidFill>
              </a:rPr>
              <a:t> under the hood to parse HTML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Extracts visible text from static web content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When to Use: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Blogs, news articles, or public websites with text-based static content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Limitations: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Doesn't handle JavaScript-heavy pages well (use </a:t>
            </a:r>
            <a:r>
              <a:rPr lang="en-US" sz="1400" b="1" dirty="0" err="1">
                <a:solidFill>
                  <a:srgbClr val="1F2937"/>
                </a:solidFill>
              </a:rPr>
              <a:t>SeleniumURLLoader</a:t>
            </a:r>
            <a:r>
              <a:rPr lang="en-US" sz="1400" b="1" dirty="0">
                <a:solidFill>
                  <a:srgbClr val="1F2937"/>
                </a:solidFill>
              </a:rPr>
              <a:t> </a:t>
            </a:r>
            <a:r>
              <a:rPr lang="en-US" sz="1400" dirty="0">
                <a:solidFill>
                  <a:srgbClr val="1F2937"/>
                </a:solidFill>
              </a:rPr>
              <a:t>for that)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Loads only static content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CSVLoader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Used to load CSV files into LangChain Document objects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Creates one Document object per row, by default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Preserves column structure and data integrity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Use Case: Loading tabular data for processing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Enables: Text-based analysis of structured data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937"/>
                </a:solidFill>
              </a:rPr>
              <a:t>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load()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• Eager Loading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• Loads everything at once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• Immediate execution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lazy_load()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• Lazy Loading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• Loads on demand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• Generator-based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2937"/>
                </a:solidFill>
              </a:rPr>
              <a:t>Scope → Generator of load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Choose based on your data size, memory constraints, and processing needs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load() - Eager Loading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Loads everything at once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44475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All documents are loaded into memory immediately when load() is called.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Returns a List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Returns a complete list of Document objects, not a generator.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Immediate Memory Usage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7355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All documents occupy memory from the start - immediate memory footprint.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Access Pattern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18795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Access all documents immediately after calling load().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lazy_load() - Lazy Loading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</a:rPr>
              <a:t>Loads on demand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44475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Documents are fetched only when needed, one at a time.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</a:rPr>
              <a:t>Returns a Generator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Returns a generator object that yields Document objects sequentially.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</a:rPr>
              <a:t>Delayed Memory Usage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7355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Documents are loaded into memory only when accessed - progressive loading.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</a:rPr>
              <a:t>Access Pattern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18795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Fetch documents as needed using iteration or async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F4444"/>
                </a:solidFill>
              </a:rPr>
              <a:t>Eager Loading - Best Use Cases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</a:rPr>
              <a:t>✓ Small number of documents (&lt; 100 documents)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</a:rPr>
              <a:t>✓ You want everything loaded upfront for immediate access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</a:rPr>
              <a:t>✓ All documents fit comfortably in available memory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</a:rPr>
              <a:t>✓ Sequential processing where you need random access to any document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</a:rPr>
              <a:t>✓ Building a complete search index over all documents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</a:rPr>
              <a:t>✓ Training/fine-tuning with fixed dataset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B82F6"/>
                </a:solidFill>
              </a:rPr>
              <a:t>Lazy Loading - Best Use Cases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</a:rPr>
              <a:t>✓ Large number of documents (&gt; 1000 documents)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</a:rPr>
              <a:t>✓ Large document files that consume significant memory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</a:rPr>
              <a:t>✓ Streaming processing (chunking, embedding) without high memory usage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</a:rPr>
              <a:t>✓ Processing documents one at a time sequentially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</a:rPr>
              <a:t>✓ Building pipelines that process infinite or very large datasets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</a:rPr>
              <a:t>✓ Real-time systems where you load data as it arrives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937"/>
                </a:solidFill>
              </a:rPr>
              <a:t>Load vs Lazy Load Comparison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128016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698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74151"/>
                </a:solidFill>
              </a:rPr>
              <a:t>Aspect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1051560"/>
            <a:ext cx="27432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0698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Eager Load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051560"/>
            <a:ext cx="347472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06984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Lazy Load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128016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8191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Method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150876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5819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load()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50876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58191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lazy_load()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002536"/>
            <a:ext cx="128016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0756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Return Type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2002536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207568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List of Documents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002536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207568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Generator of Documents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496312"/>
            <a:ext cx="128016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569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Memory Usage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0" y="249631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256946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All at once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2496312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5694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On demand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2990088"/>
            <a:ext cx="128016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06324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Speed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011680" y="2990088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30632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Slower start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2990088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0632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Fast start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3483864"/>
            <a:ext cx="128016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55701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Best For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011680" y="3483864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03120" y="355701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Small datasets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3483864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355701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Large datasets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3977640"/>
            <a:ext cx="128016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05079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Access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011680" y="397764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03120" y="405079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Random access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29200" y="397764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405079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Sequential access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937"/>
                </a:solidFill>
              </a:rPr>
              <a:t>Code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Eager Loading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all documents at once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TextLoader("docs/")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Returns a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= loader.load()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docs in memory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doc in documents: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print(doc.content)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Lazy Loading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8404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54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a generator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TextLoader("docs/")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Returns a generator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docs_gen = loader.lazy_load()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one at a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doc in docs_gen: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print(doc.content)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937"/>
                </a:solidFill>
              </a:rPr>
              <a:t>Memory Usage Profile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load() - Eager Loading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7276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Memory Usage (Immediate)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Time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lazy_load() - Lazy Loading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82296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0" y="1874520"/>
            <a:ext cx="82296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194560"/>
            <a:ext cx="82296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0" y="2514600"/>
            <a:ext cx="82296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Time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2300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High immediate memory demand. All data loaded upfront.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9767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Incremental memory usage. Data loaded progressively as needed.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Decision Guide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How many documents do you have?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&lt; 100 docs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365760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Use load()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Eager Loading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&gt; 100 docs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965960"/>
            <a:ext cx="365760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057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Use lazy_load()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Lazy Loading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Additional factors to consider: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• Available memory on your system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• How quickly you need to start 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• Whether you need random access to documents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• Real-time vs batch processing requirements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Text Splitting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F2937"/>
                </a:solidFill>
              </a:rPr>
              <a:t>The process of breaking large chunks of text (articles, PDFs, HTML pages, books) into smaller, manageable pieces (chunks) that an LLM can handle effectively.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9248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Overcoming model limitations: Many models have maximum input size constraints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493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Downstream tasks: Text splitting improves nearly every LLM powered task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0501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Optimizing resources: Smaller chunks are more memory-efficient and enable parallelization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64C1EC-5A1F-4E6D-918C-36E0DC6DE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522" y="3694946"/>
            <a:ext cx="2270987" cy="178434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2937"/>
                </a:solidFill>
              </a:rPr>
              <a:t>Why Text Splitting Matters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68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1. Overcoming Model Limitations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Many embedding models and language models have maximum input size constraints. Splitting allows us to process documents that would otherwise exceed these limits.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868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2. Downstream Tasks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91840" y="12070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Text Splitting improves nearly every LLM powered task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1188720" cy="320040"/>
          </a:xfrm>
          <a:prstGeom prst="rect">
            <a:avLst/>
          </a:prstGeom>
          <a:solidFill>
            <a:srgbClr val="E5E7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8249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</a:rPr>
              <a:t>Task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645920"/>
            <a:ext cx="1600200" cy="320040"/>
          </a:xfrm>
          <a:prstGeom prst="rect">
            <a:avLst/>
          </a:prstGeom>
          <a:solidFill>
            <a:srgbClr val="E5E7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82496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</a:rPr>
              <a:t>Why Splitting Helps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984248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Embedding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1984248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0299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</a:rPr>
              <a:t>Short chunks yield more accurate vectors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2340864"/>
            <a:ext cx="1188720" cy="347472"/>
          </a:xfrm>
          <a:prstGeom prst="rect">
            <a:avLst/>
          </a:prstGeom>
          <a:solidFill>
            <a:srgbClr val="F9FA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3865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Semantic Search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6280" y="2340864"/>
            <a:ext cx="1600200" cy="347472"/>
          </a:xfrm>
          <a:prstGeom prst="rect">
            <a:avLst/>
          </a:prstGeom>
          <a:solidFill>
            <a:srgbClr val="F9FA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38658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</a:rPr>
              <a:t>Search results point to focused info, not noise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697480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743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Summarization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2697480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7432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</a:rPr>
              <a:t>Prevents hallucination and topic drift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868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3. Optimizing Computational Resources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120700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Working with smaller chunks of text can be more memory-efficient and allow for better parallelization of processing tasks.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0640" y="3767860"/>
            <a:ext cx="283464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257800" y="38135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Handles Constraints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138160" y="3767860"/>
            <a:ext cx="283464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3275320" y="38135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Improves Accuracy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55680" y="3767860"/>
            <a:ext cx="28346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292840" y="38135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Efficient 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2937"/>
                </a:solidFill>
              </a:rPr>
              <a:t>Why Text Splitting Matters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" y="105117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Key Takeaways: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74320" y="135292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4360" y="1371216"/>
            <a:ext cx="8183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Overcome model input size constraints by splitting large documents into manageable chunks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173697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4360" y="1755264"/>
            <a:ext cx="8183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Improve embedding accuracy and semantic search quality with focused, shorter text segments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212102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94360" y="2139312"/>
            <a:ext cx="8183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Reduce memory footprint and enable parallel processing for better resource utilization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250507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🎭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94360" y="2523360"/>
            <a:ext cx="8183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Prevent LLM hallucinations and topic drift in downstream tasks like summarization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Text Splitting Methods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1. Length-Based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1752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Split text into fixed-size chunks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2. Text-Structured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Split based on text delimiters and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3. Document-Structured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Split based on document format and sections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4. Semantic Meaning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Split based on semantic similarity and meaning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1. Length-Based Text Splitting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Divides text into fixed-size chunks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Simple and straightforward approach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Useful for uniform chunk sizes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Example: Split 1000-character document into 500-char chunks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Trade-off: May split meaningful content across chunks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2. Text-Structured Based Splitting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Splits based on text delimiters (spaces, newlines, punctuation)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Preserves logical text boundaries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Works well with structured text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Example: Split on paragraph breaks or sentence boundaries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Maintains better readability and context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563EB"/>
                </a:solidFill>
              </a:rPr>
              <a:t>3. Document-Structured Based Splitting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Splits based on document format and structure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Respects document hierarchy and sections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Different logic for different document types (Markdown, HTML, JSON)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Preserves heading structures and formatting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Best for: Complex structured documents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4. Semantic Meaning Based Splitting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Splits text based on semantic similarity and topic coherence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Uses embeddings to understand meaning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Keeps semantically related content together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Most intelligent but computationally expensive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Best for: Preserving context and meaning across chunks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Document Loaders convert various data sources into standardized LangChain Document objects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Choose the right loader based on your data source (text, PDF, web, CSV, directory)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Text Splitting is essential for processing large documents with LLMs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Select splitting method based on your data structure and semantic requirements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Together, loaders and splitters form the foundation of LangChain data pipelines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1600</Words>
  <Application>Microsoft Office PowerPoint</Application>
  <PresentationFormat>On-screen Show (16:9)</PresentationFormat>
  <Paragraphs>297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Sumit Davda</cp:lastModifiedBy>
  <cp:revision>10</cp:revision>
  <dcterms:created xsi:type="dcterms:W3CDTF">2026-08-08T02:12:37Z</dcterms:created>
  <dcterms:modified xsi:type="dcterms:W3CDTF">2026-08-08T13:55:49Z</dcterms:modified>
</cp:coreProperties>
</file>