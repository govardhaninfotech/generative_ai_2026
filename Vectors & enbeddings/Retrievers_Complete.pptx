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28" y="-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331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2311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Retrievers in LangChain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40AF"/>
                </a:solidFill>
              </a:rPr>
              <a:t>What are Retrievers?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A retriever is a component in LangChain that fetches relevant documents from a data source in response to a user's query.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Key Points: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There are multiple types of retrievers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All retrievers in LangChain are runnables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02EEAC-A2C2-4D26-89A2-772031605784}"/>
              </a:ext>
            </a:extLst>
          </p:cNvPr>
          <p:cNvSpPr/>
          <p:nvPr/>
        </p:nvSpPr>
        <p:spPr>
          <a:xfrm>
            <a:off x="7396138" y="845056"/>
            <a:ext cx="901338" cy="8965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81F140-1014-47A0-A8DD-2762BBEC1C3A}"/>
              </a:ext>
            </a:extLst>
          </p:cNvPr>
          <p:cNvSpPr/>
          <p:nvPr/>
        </p:nvSpPr>
        <p:spPr>
          <a:xfrm>
            <a:off x="7250141" y="989708"/>
            <a:ext cx="901338" cy="8965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39E96FF-F0F8-4D82-9673-0455D6BD8F32}"/>
              </a:ext>
            </a:extLst>
          </p:cNvPr>
          <p:cNvSpPr/>
          <p:nvPr/>
        </p:nvSpPr>
        <p:spPr>
          <a:xfrm>
            <a:off x="822960" y="1080572"/>
            <a:ext cx="1123406" cy="1098816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Data Source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F59388-BF0A-49B2-AD37-B2B90FFAB207}"/>
              </a:ext>
            </a:extLst>
          </p:cNvPr>
          <p:cNvSpPr/>
          <p:nvPr/>
        </p:nvSpPr>
        <p:spPr>
          <a:xfrm>
            <a:off x="3680652" y="1241937"/>
            <a:ext cx="1690487" cy="7315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Retriever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094F1C-9815-4A01-B201-6E6A2CAD628E}"/>
              </a:ext>
            </a:extLst>
          </p:cNvPr>
          <p:cNvSpPr/>
          <p:nvPr/>
        </p:nvSpPr>
        <p:spPr>
          <a:xfrm>
            <a:off x="7097741" y="1149728"/>
            <a:ext cx="901338" cy="8965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Document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4D904AC2-F5F4-45A3-8527-848491142CD2}"/>
              </a:ext>
            </a:extLst>
          </p:cNvPr>
          <p:cNvSpPr/>
          <p:nvPr/>
        </p:nvSpPr>
        <p:spPr>
          <a:xfrm>
            <a:off x="3938066" y="2978525"/>
            <a:ext cx="1175657" cy="97875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Query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6410BB-32DA-43C0-A6EC-DAF47F94D42E}"/>
              </a:ext>
            </a:extLst>
          </p:cNvPr>
          <p:cNvCxnSpPr>
            <a:stCxn id="5" idx="1"/>
            <a:endCxn id="4" idx="6"/>
          </p:cNvCxnSpPr>
          <p:nvPr/>
        </p:nvCxnSpPr>
        <p:spPr>
          <a:xfrm flipH="1">
            <a:off x="1946366" y="1607697"/>
            <a:ext cx="1734286" cy="222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6F9F57-AD26-4A9C-9825-19A336A53FC0}"/>
              </a:ext>
            </a:extLst>
          </p:cNvPr>
          <p:cNvCxnSpPr>
            <a:stCxn id="7" idx="0"/>
            <a:endCxn id="5" idx="2"/>
          </p:cNvCxnSpPr>
          <p:nvPr/>
        </p:nvCxnSpPr>
        <p:spPr>
          <a:xfrm flipV="1">
            <a:off x="4525895" y="1973457"/>
            <a:ext cx="1" cy="100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CF75316-4C9D-49EA-B1C2-FBADAA5FE957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5371139" y="1597994"/>
            <a:ext cx="1726602" cy="9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59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40AF"/>
                </a:solidFill>
              </a:rPr>
              <a:t>Types of Retrievers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</a:rPr>
              <a:t>Wikipedia Retriever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Queries Wikipedia API to fetch relevant content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</a:rPr>
              <a:t>Vector Store Retriever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Searches vector stores using semantic similarity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71844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175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</a:rPr>
              <a:t>Maximal Marginal Relevance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61756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Reduces redundancy while maintaining relevance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74764"/>
            <a:ext cx="82296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204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</a:rPr>
              <a:t>Multi-Query Retriever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12048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Generates multiple queries from a single query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77684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234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</a:rPr>
              <a:t>Contextual Compression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62340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Compresses documents to keep only relevant parts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80604"/>
            <a:ext cx="82296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263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</a:rPr>
              <a:t>Additional Retrievers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412632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BM25, ParentDocument, TimeWeighted, SelfQuery, etc.</a:t>
            </a:r>
            <a:endParaRPr lang="en-US" sz="1200" dirty="0"/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8E94D94C-FDB2-4689-9874-1063D5069982}"/>
              </a:ext>
            </a:extLst>
          </p:cNvPr>
          <p:cNvSpPr/>
          <p:nvPr/>
        </p:nvSpPr>
        <p:spPr>
          <a:xfrm>
            <a:off x="525076" y="1935092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0DC6B2E1-B579-47C3-8795-0FA82812EBB2}"/>
              </a:ext>
            </a:extLst>
          </p:cNvPr>
          <p:cNvSpPr/>
          <p:nvPr/>
        </p:nvSpPr>
        <p:spPr>
          <a:xfrm>
            <a:off x="525076" y="2117972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C925533E-94BC-4789-A3CD-23C386A7F13D}"/>
              </a:ext>
            </a:extLst>
          </p:cNvPr>
          <p:cNvSpPr/>
          <p:nvPr/>
        </p:nvSpPr>
        <p:spPr>
          <a:xfrm>
            <a:off x="623432" y="21636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 err="1">
                <a:solidFill>
                  <a:srgbClr val="1E40AF"/>
                </a:solidFill>
              </a:rPr>
              <a:t>ArxivRetriever</a:t>
            </a:r>
            <a:r>
              <a:rPr lang="en-US" sz="1200" b="1" dirty="0">
                <a:solidFill>
                  <a:srgbClr val="1E40AF"/>
                </a:solidFill>
              </a:rPr>
              <a:t> Retriever</a:t>
            </a:r>
            <a:endParaRPr lang="en-US" sz="12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5C0A350E-D944-4C99-913A-38715C540B2B}"/>
              </a:ext>
            </a:extLst>
          </p:cNvPr>
          <p:cNvSpPr/>
          <p:nvPr/>
        </p:nvSpPr>
        <p:spPr>
          <a:xfrm>
            <a:off x="3451156" y="21636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F2937"/>
                </a:solidFill>
              </a:rPr>
              <a:t>arxiv_retriever</a:t>
            </a:r>
            <a:r>
              <a:rPr lang="en-US" sz="1200" dirty="0">
                <a:solidFill>
                  <a:srgbClr val="1F2937"/>
                </a:solidFill>
              </a:rPr>
              <a:t> is a lightweight command-line tool designed to automate the retrieval of computer science papers from </a:t>
            </a:r>
            <a:r>
              <a:rPr lang="en-US" sz="1200" dirty="0" err="1">
                <a:solidFill>
                  <a:srgbClr val="1F2937"/>
                </a:solidFill>
              </a:rPr>
              <a:t>ArXiv</a:t>
            </a:r>
            <a:r>
              <a:rPr lang="en-US" sz="1200" dirty="0">
                <a:solidFill>
                  <a:srgbClr val="1F2937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40AF"/>
                </a:solidFill>
              </a:rPr>
              <a:t>Wikipedia Retriever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F2937"/>
                </a:solidFill>
              </a:rPr>
              <a:t>A Wikipedia Retriever is a retriever that queries the Wikipedia API to fetch relevant content for a given query.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</a:rPr>
              <a:t>How It Works: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1. Give it a query (e.g., 'Albert Einstein')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2. It sends the query to Wikipedia's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3. It retrieves the most relevant articles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4. Returns them as LangChain Document objects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40AF"/>
                </a:solidFill>
              </a:rPr>
              <a:t>Vector Store Retriever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 Vector Store Retriever in </a:t>
            </a:r>
            <a:r>
              <a:rPr lang="en-US" sz="1200" dirty="0" err="1">
                <a:solidFill>
                  <a:srgbClr val="1F2937"/>
                </a:solidFill>
              </a:rPr>
              <a:t>LangChain</a:t>
            </a:r>
            <a:r>
              <a:rPr lang="en-US" sz="1200" dirty="0">
                <a:solidFill>
                  <a:srgbClr val="1F2937"/>
                </a:solidFill>
              </a:rPr>
              <a:t> is the most common type of retriever that lets you search and fetch documents from a vector store based on semantic similarity using vector embeddings.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</a:rPr>
              <a:t>How It Works: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1. Documents stored in vector store (FAISS, Chroma, Weaviate)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2. Each document converted to dense vector using embedding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3. User query entered: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   • Turned into a vector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611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   • Compared with stored vectors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931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   • Top-k most similar documents retrieved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40AF"/>
                </a:solidFill>
              </a:rPr>
              <a:t>Maximal Marginal Relevance (MMR)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M</a:t>
            </a:r>
            <a:r>
              <a:rPr lang="en-US" sz="1200" dirty="0"/>
              <a:t>MR is an information retrieval algorithm designed to reduce redundancy in the retrieved results while maintaining high relevance to the query.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</a:rPr>
              <a:t>Problem It Solves: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Regular search returns documents that are: very similar to each other, repeating same info, lacking diverse perspectives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</a:rPr>
              <a:t>MMR Solution: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1. Pick the most relevant document first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2. Pick next most relevant AND least similar to already selected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3. Balance between relevance and diversity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40AF"/>
                </a:solidFill>
              </a:rPr>
              <a:t>Multi-Query Retriever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Single query may not capture all ways information is phrased. Uses LLM to generate multiple semantically different query versions.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</a:rPr>
              <a:t>How It Works (4 Steps):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1. Takes your original query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2. Uses LLM (GPT-3.5) to generate multiple versions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3. Performs retrieval for each sub-query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4. Combines and deduplicates results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1A40DE-9725-4F31-875F-BB27A638CFE9}"/>
              </a:ext>
            </a:extLst>
          </p:cNvPr>
          <p:cNvSpPr txBox="1"/>
          <p:nvPr/>
        </p:nvSpPr>
        <p:spPr>
          <a:xfrm>
            <a:off x="5555556" y="1732751"/>
            <a:ext cx="29483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Example : </a:t>
            </a:r>
          </a:p>
          <a:p>
            <a:r>
              <a:rPr lang="en-IN" sz="1600" dirty="0"/>
              <a:t>Query : </a:t>
            </a:r>
          </a:p>
          <a:p>
            <a:r>
              <a:rPr lang="en-IN" sz="1600" dirty="0"/>
              <a:t>  How can I stay Healthy?</a:t>
            </a:r>
          </a:p>
          <a:p>
            <a:r>
              <a:rPr lang="en-IN" sz="1600" b="1" dirty="0"/>
              <a:t>Could mean:</a:t>
            </a:r>
          </a:p>
          <a:p>
            <a:r>
              <a:rPr lang="en-IN" sz="1600" dirty="0"/>
              <a:t>  What should I eat?</a:t>
            </a:r>
          </a:p>
          <a:p>
            <a:r>
              <a:rPr lang="en-IN" sz="1600" dirty="0"/>
              <a:t>  How often should I exercise?</a:t>
            </a:r>
          </a:p>
          <a:p>
            <a:r>
              <a:rPr lang="en-IN" sz="1600" dirty="0"/>
              <a:t>  How can I manage stress&gt;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E03399-5A32-4777-8407-6C61EC7D039C}"/>
              </a:ext>
            </a:extLst>
          </p:cNvPr>
          <p:cNvSpPr txBox="1"/>
          <p:nvPr/>
        </p:nvSpPr>
        <p:spPr>
          <a:xfrm>
            <a:off x="4572001" y="3667845"/>
            <a:ext cx="43722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</a:rPr>
              <a:t> How can I stay Healthy?</a:t>
            </a:r>
            <a:endParaRPr lang="en-US" sz="1600" b="1" dirty="0">
              <a:solidFill>
                <a:srgbClr val="FF0000"/>
              </a:solidFill>
            </a:endParaRPr>
          </a:p>
          <a:p>
            <a:r>
              <a:rPr lang="en-US" sz="1600" b="1" dirty="0"/>
              <a:t>what are the best foods to maintain good health?</a:t>
            </a:r>
          </a:p>
          <a:p>
            <a:r>
              <a:rPr lang="en-US" sz="1600" b="1" dirty="0"/>
              <a:t>how often should I exercise to stay fit?</a:t>
            </a:r>
            <a:endParaRPr lang="en-IN" sz="1600" b="1" dirty="0"/>
          </a:p>
          <a:p>
            <a:r>
              <a:rPr lang="en-US" sz="1600" b="1" dirty="0"/>
              <a:t>what lifestyle habits improve mental and physical wellness?</a:t>
            </a:r>
            <a:endParaRPr lang="en-IN" sz="1600" b="1" dirty="0"/>
          </a:p>
          <a:p>
            <a:r>
              <a:rPr lang="en-US" sz="1600" b="1" dirty="0"/>
              <a:t>How can I boost my immune system naturally?</a:t>
            </a:r>
          </a:p>
          <a:p>
            <a:r>
              <a:rPr lang="en-US" sz="1600" b="1" dirty="0"/>
              <a:t>What daily routines support long-term health?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40AF"/>
                </a:solidFill>
              </a:rPr>
              <a:t>Contextual Compression Retriever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Improves retrieval quality by compressing documents after retrieval - keeps only relevant content based on query.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Problem Without Compression: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Returns entire paragraph when only 1 sentence is relevant. Irrelevant noise wastes context window and confuses LLM.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</a:rPr>
              <a:t>How It Works: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1. Base Retriever retrieves N documents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2. Compressor (LLM) applied to each document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3. Keeps only relevant parts to query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4. Irrelevant content discarded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40AF"/>
                </a:solidFill>
              </a:rPr>
              <a:t>Additional Retriever Types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3385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BM25Retriever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133856"/>
            <a:ext cx="5303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Probabilistic ranking for keyword-based retrieval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9105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ParentDocumentRetriever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1591056"/>
            <a:ext cx="5303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Retrieves parent documents for context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4825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TimeWeightedVectorRetriever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048256"/>
            <a:ext cx="5303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Combines similarity with recency scoring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0545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SelfQueryRetriever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505456"/>
            <a:ext cx="5303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LLM-powered with self-generated filters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6265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MultiVectorRetriever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962656"/>
            <a:ext cx="5303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Multiple vector representations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1985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EnsembleRetriever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419856"/>
            <a:ext cx="5303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Combines results from multiple retrievers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7705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ArxivRetriever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877056"/>
            <a:ext cx="5303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Searches arXiv research papers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1. Retrievers fetch relevant documents from data sources based on queries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2. Vector Store Retrievers use semantic similarity - most common 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27685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3. MMR balances relevance and diversity, reducing redundancy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84378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4. Multi-Query generates variations to overcome terminology gaps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41071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5. Contextual Compression optimizes context with relevant content only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6. LangChain supports diverse retrievers for different use cases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706</Words>
  <Application>Microsoft Office PowerPoint</Application>
  <PresentationFormat>On-screen Show (16:9)</PresentationFormat>
  <Paragraphs>110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Sumit Davda</cp:lastModifiedBy>
  <cp:revision>5</cp:revision>
  <dcterms:created xsi:type="dcterms:W3CDTF">2026-08-15T02:23:28Z</dcterms:created>
  <dcterms:modified xsi:type="dcterms:W3CDTF">2026-08-15T02:42:28Z</dcterms:modified>
</cp:coreProperties>
</file>