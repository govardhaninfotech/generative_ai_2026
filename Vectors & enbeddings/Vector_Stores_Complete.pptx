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6" r:id="rId4"/>
    <p:sldId id="267" r:id="rId5"/>
    <p:sldId id="258" r:id="rId6"/>
    <p:sldId id="269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539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44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Vector Stores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BEAFE"/>
                </a:solidFill>
              </a:rPr>
              <a:t>Complete Guide to Vector Storage in LangChain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AF"/>
                </a:solidFill>
              </a:rPr>
              <a:t>Why Vector Stores? - Movie Database Example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Movie Metadata Table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731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Movie 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80160" y="1463040"/>
            <a:ext cx="1188720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481328"/>
            <a:ext cx="10972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Movie 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463040"/>
            <a:ext cx="1097280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481328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Director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463040"/>
            <a:ext cx="1097280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481328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371600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481328"/>
            <a:ext cx="1280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Genre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1188720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481328"/>
            <a:ext cx="10972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Release Date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783080"/>
            <a:ext cx="8229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8013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M001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80160" y="1783080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18013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3 Idiots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1783080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4600" y="18013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Raju Hirani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66160" y="1783080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18013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Aamir Khan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783080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8013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Drama, Romance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1783080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18013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2009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103120"/>
            <a:ext cx="82296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1214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M002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280160" y="2103120"/>
            <a:ext cx="118872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25880" y="21214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Chennai Express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68880" y="2103120"/>
            <a:ext cx="109728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21214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Rohit Shetty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66160" y="2103120"/>
            <a:ext cx="109728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11880" y="21214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Shah Rukh Khan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2103120"/>
            <a:ext cx="137160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1214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Romance, Comedy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35040" y="2103120"/>
            <a:ext cx="118872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21214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2014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2423160"/>
            <a:ext cx="8229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4414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M003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280160" y="2423160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25880" y="24414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Inception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468880" y="2423160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14600" y="24414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C Nolan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66160" y="2423160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11880" y="24414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L DiCaprio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2423160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24414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Thriller, Sci-Fi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35040" y="2423160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80760" y="24414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2009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2743200"/>
            <a:ext cx="82296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27614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M004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280160" y="2743200"/>
            <a:ext cx="118872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25880" y="27614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Stree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468880" y="2743200"/>
            <a:ext cx="109728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14600" y="27614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Amar Kaushik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566160" y="2743200"/>
            <a:ext cx="109728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11880" y="27614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Rajkummar Rao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663440" y="2743200"/>
            <a:ext cx="137160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09160" y="27614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Horror, Comedy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035040" y="2743200"/>
            <a:ext cx="118872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80760" y="27614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2019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6" name="Text 64"/>
          <p:cNvSpPr/>
          <p:nvPr/>
        </p:nvSpPr>
        <p:spPr>
          <a:xfrm>
            <a:off x="640080" y="39776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</a:rPr>
              <a:t>Vector Concept: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40080" y="422452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Each movie can be converted into a numerical vector using embeddings. Vector stores then organize these vectors in a multi-dimensional space, enabling fast similarity searches. For example, searching for movies similar to 'Inception' would find movies with similar genres, themes, and metadata.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2D0513-6CF6-4172-9980-612A2A01D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4926"/>
            <a:ext cx="9144000" cy="41690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DA5E21-C301-4512-82AF-7D7A3F022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665" y="232092"/>
            <a:ext cx="1591357" cy="139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44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37400D-4DEE-4EDD-8E27-46A1C729B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5254"/>
            <a:ext cx="9144000" cy="219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346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</a:rPr>
              <a:t>Challenges &amp; Solution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6A87C3-6527-4BF3-8E4F-B64A850616B7}"/>
              </a:ext>
            </a:extLst>
          </p:cNvPr>
          <p:cNvSpPr txBox="1"/>
          <p:nvPr/>
        </p:nvSpPr>
        <p:spPr>
          <a:xfrm>
            <a:off x="676195" y="1337022"/>
            <a:ext cx="7653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Generate Embedding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Semantic Search – Intelligent Semantic Search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4CA3A7-B644-4FEF-AE3A-D05A1E54F275}"/>
              </a:ext>
            </a:extLst>
          </p:cNvPr>
          <p:cNvSpPr txBox="1"/>
          <p:nvPr/>
        </p:nvSpPr>
        <p:spPr>
          <a:xfrm>
            <a:off x="682599" y="2611286"/>
            <a:ext cx="7653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Solution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Vector 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</a:rPr>
              <a:t>Vector Representation - Movie Plots as Embeddings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74320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2529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Idiots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1188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 drama about three engineering students and their pursuit of knowledge and friendship.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Genre: Drama, Romance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15544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 Vector: [0.92, 0.83, 0.54, 0.88, 0.91, ...]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74320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4825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Inception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0116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 sci-fi thriller about corporate espionage and dream infiltration technology.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Genre: Thriller, Sci-Fi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3774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 Vector: [0.87, 0.45, 0.92, 0.51, 0.88, ...]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274320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7121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Stree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834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 horror-comedy about a ghostly woman who haunts men in a small town.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200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Genre: Horror, Comedy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2004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 Vector: [0.76, 0.68, 0.62, 0.84, 0.55, ...]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41800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40AF"/>
                </a:solidFill>
              </a:rPr>
              <a:t>What is a Vector Store?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 vector store is a system designed to store and retrieve data represented as numerical vectors.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64592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48256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Storage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202996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Ensures that vectors and their associated metadata are retained, whether in memory for quick lookups or on-disk for durability and large-scale use.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164592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51176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Similarity 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253288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Helps retrieve the vectors most similar to a query vector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164592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54096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Indexing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30358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Provide a data structure or method that enables fast similarity </a:t>
            </a:r>
            <a:r>
              <a:rPr lang="en-US" sz="1400" dirty="0" err="1"/>
              <a:t>searcheson</a:t>
            </a:r>
            <a:r>
              <a:rPr lang="en-US" sz="1400" dirty="0"/>
              <a:t> high-dimensional vectors (e.g., approximate nearest neighbor lookups).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164592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57016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CRUD Operations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353872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Manage the lifecycle of data—adding new vectors, reading them, updating existing entries, removing outdated vectors.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40AF"/>
                </a:solidFill>
              </a:rPr>
              <a:t>Vector Store Use Cases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2984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</a:rPr>
              <a:t>Semantic Search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12984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Find documents based on meaning, not just keywords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1984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</a:rPr>
              <a:t>RAG (Retrieval-Augmented Generation)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17520" y="19842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Retrieve relevant context to improve LLM responses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26700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</a:rPr>
              <a:t>Recommender Systems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2670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Suggest similar products, content, or users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3355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</a:rPr>
              <a:t>Image/Multimedia Search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17520" y="33558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Find similar images or multimedia based on embeddings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40AF"/>
                </a:solidFill>
              </a:rPr>
              <a:t>Vector Store vs Vector Database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Vector Store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Storage &amp; </a:t>
            </a:r>
            <a:r>
              <a:rPr lang="en-US" sz="1200" dirty="0" err="1">
                <a:solidFill>
                  <a:srgbClr val="1F2937"/>
                </a:solidFill>
              </a:rPr>
              <a:t>Retrivers</a:t>
            </a:r>
            <a:r>
              <a:rPr lang="en-US" sz="1200" dirty="0">
                <a:solidFill>
                  <a:srgbClr val="1F2937"/>
                </a:solidFill>
              </a:rPr>
              <a:t>, Lightweight library or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Focuses on storing embeddings &amp; similarity 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46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M</a:t>
            </a:r>
            <a:r>
              <a:rPr lang="en-US" sz="1200" dirty="0"/>
              <a:t>ay not include many traditional database features like transactions, rich query languages, or role-based access control</a:t>
            </a:r>
          </a:p>
        </p:txBody>
      </p:sp>
      <p:sp>
        <p:nvSpPr>
          <p:cNvPr id="9" name="Text 7"/>
          <p:cNvSpPr/>
          <p:nvPr/>
        </p:nvSpPr>
        <p:spPr>
          <a:xfrm>
            <a:off x="640080" y="29817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Ideal for prototyping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013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Example: FAISS (</a:t>
            </a:r>
            <a:r>
              <a:rPr lang="en-US" sz="1200" dirty="0"/>
              <a:t>where you store vectors and can query them by similarity, but you handle persistence and scaling separately)</a:t>
            </a:r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Vector Database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Full-fledged database system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0197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Advanced database features : nearly ACID, authentication / Authorization, Durability &amp; Persistence, Distributed architecture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4546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Distributed &amp; scalable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Production-ready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Examples: Milvus, </a:t>
            </a:r>
            <a:r>
              <a:rPr lang="en-US" sz="1200" dirty="0" err="1">
                <a:solidFill>
                  <a:srgbClr val="1F2937"/>
                </a:solidFill>
              </a:rPr>
              <a:t>Qdrant</a:t>
            </a:r>
            <a:r>
              <a:rPr lang="en-US" sz="1200" dirty="0">
                <a:solidFill>
                  <a:srgbClr val="1F2937"/>
                </a:solidFill>
              </a:rPr>
              <a:t>,</a:t>
            </a:r>
            <a:r>
              <a:rPr lang="en-IN" sz="1200" dirty="0"/>
              <a:t> </a:t>
            </a:r>
            <a:r>
              <a:rPr lang="en-IN" sz="1200" dirty="0" err="1"/>
              <a:t>Weaviate</a:t>
            </a:r>
            <a:r>
              <a:rPr lang="en-IN" sz="1200" dirty="0"/>
              <a:t>, Pinecone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2937"/>
                </a:solidFill>
              </a:rPr>
              <a:t>A vector database is effectively a vector store with extra database features (clustering, scaling, security, metadata filtering, and durability)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40AF"/>
                </a:solidFill>
              </a:rPr>
              <a:t>Vector Stores in LangChain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</a:rPr>
              <a:t>🔗  Multiple Integrations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536192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FAISS, Pinecone, Chroma, Qdrant, Weaviate, and many more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</a:rPr>
              <a:t>🔄  Common Interface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450592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Uniform API allows swapping backends with minimal code changes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</a:rPr>
              <a:t>📝  Metadata Handling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364992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Attach metadata (timestamps, authors, tags) to each document</a:t>
            </a:r>
            <a:endParaRPr 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C833B3-0947-4ECE-AAB6-A4BFF7388B49}"/>
              </a:ext>
            </a:extLst>
          </p:cNvPr>
          <p:cNvSpPr txBox="1"/>
          <p:nvPr/>
        </p:nvSpPr>
        <p:spPr>
          <a:xfrm>
            <a:off x="6070387" y="1490473"/>
            <a:ext cx="26164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err="1"/>
              <a:t>from_documents</a:t>
            </a:r>
            <a:r>
              <a:rPr lang="en-IN" sz="1400" dirty="0"/>
              <a:t>() </a:t>
            </a:r>
          </a:p>
          <a:p>
            <a:r>
              <a:rPr lang="en-IN" sz="1400" dirty="0" err="1"/>
              <a:t>add_documents</a:t>
            </a:r>
            <a:r>
              <a:rPr lang="en-IN" sz="1400" dirty="0"/>
              <a:t>() </a:t>
            </a:r>
          </a:p>
          <a:p>
            <a:r>
              <a:rPr lang="en-IN" sz="1400" dirty="0" err="1"/>
              <a:t>simiarlity_search</a:t>
            </a:r>
            <a:r>
              <a:rPr lang="en-IN" sz="1400" dirty="0"/>
              <a:t>(</a:t>
            </a:r>
            <a:r>
              <a:rPr lang="en-IN" sz="1400" dirty="0" err="1"/>
              <a:t>query,k</a:t>
            </a:r>
            <a:r>
              <a:rPr lang="en-IN" sz="1400" dirty="0"/>
              <a:t>=2)</a:t>
            </a:r>
          </a:p>
          <a:p>
            <a:r>
              <a:rPr lang="en-IN" sz="1400" dirty="0"/>
              <a:t>metadata-Based Filtering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40AF"/>
                </a:solidFill>
              </a:rPr>
              <a:t>Chroma Vector Store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Chroma is a lightweight, open-source vector database that is especially friendly for local development and small- to medium-scale production needs.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Chroma Hierarchy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651760"/>
            <a:ext cx="2286000" cy="3657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697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User/Tenant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30632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40AF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3108960"/>
            <a:ext cx="2286000" cy="3657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3154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3520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40AF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566160"/>
            <a:ext cx="2286000" cy="3657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3611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Collections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39776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40AF"/>
                </a:solidFill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4023360"/>
            <a:ext cx="2286000" cy="3657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4069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Documents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27409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Key Features: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59413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✓ Open-source and lightweight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91417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✓ Perfect for development environments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23421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✓ Multi-tenant support with hierarchical organization</a:t>
            </a:r>
            <a:endParaRPr lang="en-US" sz="1300" dirty="0"/>
          </a:p>
        </p:txBody>
      </p:sp>
      <p:sp>
        <p:nvSpPr>
          <p:cNvPr id="22" name="Text 55">
            <a:extLst>
              <a:ext uri="{FF2B5EF4-FFF2-40B4-BE49-F238E27FC236}">
                <a16:creationId xmlns:a16="http://schemas.microsoft.com/office/drawing/2014/main" id="{31DAA550-92FE-4A81-B9B0-06BD17AA0955}"/>
              </a:ext>
            </a:extLst>
          </p:cNvPr>
          <p:cNvSpPr/>
          <p:nvPr/>
        </p:nvSpPr>
        <p:spPr>
          <a:xfrm>
            <a:off x="6436579" y="4503420"/>
            <a:ext cx="28208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Tenant: User workspace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Database: Isolated data store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Collection: Related data group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Doc: Individual record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Key Takeaways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1. Vector stores enable efficient storage and retrieval of vector embeddings from various data sources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2. Convert data (text, images, metadata) into vectors for semantic similarity searches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3. Vector stores are lightweight; vector databases offer enterprise-grade scalability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4. LangChain provides unified interfaces to multiple vector store backends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5. Choose based on your needs: Vector stores for development, databases for production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770</Words>
  <Application>Microsoft Office PowerPoint</Application>
  <PresentationFormat>On-screen Show (16:9)</PresentationFormat>
  <Paragraphs>137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Sumit Davda</cp:lastModifiedBy>
  <cp:revision>16</cp:revision>
  <dcterms:created xsi:type="dcterms:W3CDTF">2026-08-09T02:39:33Z</dcterms:created>
  <dcterms:modified xsi:type="dcterms:W3CDTF">2026-08-15T03:35:47Z</dcterms:modified>
</cp:coreProperties>
</file>